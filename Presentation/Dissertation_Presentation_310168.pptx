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4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Cambria"/>
              </a:defRPr>
            </a:pPr>
            <a:r>
              <a:rPr lang="en-IN" sz="1400" b="0" i="0" u="none" strike="noStrike">
                <a:solidFill>
                  <a:srgbClr val="1E2761"/>
                </a:solidFill>
                <a:latin typeface="Cambria"/>
              </a:rPr>
              <a:t>Out-of-Sample MSE by Model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MSE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A3F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Naive Mean</c:v>
                </c:pt>
                <c:pt idx="1">
                  <c:v>Linear Reg.</c:v>
                </c:pt>
                <c:pt idx="2">
                  <c:v>LSTM</c:v>
                </c:pt>
                <c:pt idx="3">
                  <c:v>Random LR</c:v>
                </c:pt>
                <c:pt idx="4">
                  <c:v>Random LSTM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1.8100000000000001E-4</c:v>
                </c:pt>
                <c:pt idx="1">
                  <c:v>1.84E-4</c:v>
                </c:pt>
                <c:pt idx="2">
                  <c:v>1.7699999999999999E-4</c:v>
                </c:pt>
                <c:pt idx="3">
                  <c:v>2.9599999999999998E-4</c:v>
                </c:pt>
                <c:pt idx="4">
                  <c:v>2.9700000000000001E-4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A3-4D58-B95A-5CB44D5C309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A3F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F"/>
              </a:solidFill>
              <a:prstDash val="solid"/>
              <a:round/>
            </a:ln>
          </c:spPr>
        </c:majorGridlines>
        <c:numFmt formatCode="0.00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3F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Directional Accuracy (%)</c:v>
                </c:pt>
              </c:strCache>
            </c:strRef>
          </c:tx>
          <c:spPr>
            <a:solidFill>
              <a:srgbClr val="C89B3C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A3F5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Naive Mean</c:v>
                </c:pt>
                <c:pt idx="1">
                  <c:v>Linear Reg.</c:v>
                </c:pt>
                <c:pt idx="2">
                  <c:v>LSTM</c:v>
                </c:pt>
                <c:pt idx="3">
                  <c:v>Random LR</c:v>
                </c:pt>
                <c:pt idx="4">
                  <c:v>Random LSTM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56.31</c:v>
                </c:pt>
                <c:pt idx="1">
                  <c:v>49.9</c:v>
                </c:pt>
                <c:pt idx="2">
                  <c:v>55.32</c:v>
                </c:pt>
                <c:pt idx="3">
                  <c:v>51.52</c:v>
                </c:pt>
                <c:pt idx="4">
                  <c:v>52.84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4A-419B-A40D-2B9DEF8D7EA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A3F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12700" cap="flat">
              <a:solidFill>
                <a:srgbClr val="E5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3F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6575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49181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47233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24830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13012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99566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52603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30290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12988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04493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15261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1750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8082409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92156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47418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5503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96648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42321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0775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764DE79-268F-4C1A-8933-263129D2AF90}" type="datetimeFigureOut">
              <a:rPr lang="en-US" smtClean="0"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2091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  <p:sldLayoutId id="2147483782" r:id="rId18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18"/>
          <p:cNvSpPr/>
          <p:nvPr/>
        </p:nvSpPr>
        <p:spPr>
          <a:xfrm>
            <a:off x="822960" y="1965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MARKET FORECASTING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22960" y="269748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of Predictive Validity and Overfitting in Stock Market Forecasting Models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2960" y="416052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Data Science  |  University of Sussex
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Number: 310168
Supervisor: Dr Antoine Dahlqvist
August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model really predict returns or just fit past noise?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74720" cy="4480560"/>
          </a:xfrm>
          <a:prstGeom prst="roundRect">
            <a:avLst>
              <a:gd name="adj" fmla="val 2105"/>
            </a:avLst>
          </a:prstGeom>
          <a:solidFill>
            <a:srgbClr val="F7F8FC"/>
          </a:solidFill>
          <a:ln/>
          <a:effectLst>
            <a:outerShdw blurRad="76200" dist="25400" dir="5400000" algn="bl" rotWithShape="0">
              <a:srgbClr val="22262F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65960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96596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signal, high noise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337560"/>
            <a:ext cx="29260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returns are dominated by noise. Any genuine predictive signal is likely to be small relative to daily volatility.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474720" cy="4480560"/>
          </a:xfrm>
          <a:prstGeom prst="roundRect">
            <a:avLst>
              <a:gd name="adj" fmla="val 2105"/>
            </a:avLst>
          </a:prstGeom>
          <a:solidFill>
            <a:srgbClr val="F7F8FC"/>
          </a:solidFill>
          <a:ln/>
          <a:effectLst>
            <a:outerShdw blurRad="76200" dist="25400" dir="5400000" algn="bl" rotWithShape="0">
              <a:srgbClr val="22262F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60720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76072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0" y="2743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Flexibility cuts both ways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3337560"/>
            <a:ext cx="29260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models (e.g. LSTM) can fit nonlinear patterns but the same flexibility lets them fit historical accidents, not true structure.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474720" cy="4480560"/>
          </a:xfrm>
          <a:prstGeom prst="roundRect">
            <a:avLst>
              <a:gd name="adj" fmla="val 2105"/>
            </a:avLst>
          </a:prstGeom>
          <a:solidFill>
            <a:srgbClr val="F7F8FC"/>
          </a:solidFill>
          <a:ln/>
          <a:effectLst>
            <a:outerShdw blurRad="76200" dist="25400" dir="5400000" algn="bl" rotWithShape="0">
              <a:srgbClr val="22262F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55480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555480" y="1920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66760" y="2743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Validity over accuracy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3337560"/>
            <a:ext cx="29260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 error alone is not evidence of skill. This study asks whether apparent predictive power survives scrutiny.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&amp; Research Questions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whether ML models produce genuine short-term forecasts of AAPL returns or overfit.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75688"/>
            <a:ext cx="685800" cy="68580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7568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1828800"/>
            <a:ext cx="9418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what extent can statistical and machine-learning models accurately predict stock returns using historical market information?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F7F8FC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3675888"/>
            <a:ext cx="685800" cy="68580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67588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20240" y="3429000"/>
            <a:ext cx="9418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difference between in-sample and out-of-sample performance inform the diagnosis of overfitting?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F7F8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5276088"/>
            <a:ext cx="685800" cy="68580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27608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20240" y="5029200"/>
            <a:ext cx="9418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predictive performance observe on real financial data be distinguished from patterns produced by simulated random data?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years of daily AAPL data, transformed into returns and predictive features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2,493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observations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Feb 2015 - 30 Dec 2024)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73736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80/20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26280" y="237744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train/test split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future leakage)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60020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173736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321040" y="237744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predictors: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Lag1, Lag2, Lag5, MA5, MA20,</a:t>
            </a:r>
            <a:endParaRPr lang="en-US" sz="11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Volatility20, VolumeChange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611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Statistical Features (from EDA)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4151376"/>
            <a:ext cx="91440" cy="914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99592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daily return ≈ 0.0011, but heavy tails: excess kurtosis = 5.41 (Jarque-Bera ≈ 3020, p ≈ 0)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4718304"/>
            <a:ext cx="91440" cy="914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562856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are stationary (ADF p &lt; 0.001), but squared returns show strong ARCH effects for volatility clustering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" y="5285232"/>
            <a:ext cx="91440" cy="914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129784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 between lag/volume features and next-day return are all below 0.07 in magnitude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5852160"/>
            <a:ext cx="91440" cy="9144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69671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MA5 and MA20 are almost perfectly correlated (r ≈ 0.9985) : a multicollinearity concern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four-stage pipeline built to separate raw performance from evidence of genuine predictability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116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AAPL prices = daily returns + lagged / rolling / volume features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44952" y="3063240"/>
            <a:ext cx="265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91840" y="187452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141A47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20116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74720" y="274320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74720" y="342900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mean, Linear Regression &amp; LSTM on chronological 80/20 split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788152" y="3063240"/>
            <a:ext cx="265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035040" y="187452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20116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217920" y="274320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Null Test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17920" y="342900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 applied to i.i.d. random-return data (no built-in signal)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531352" y="3063240"/>
            <a:ext cx="265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778240" y="1874520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141A47"/>
          </a:solidFill>
          <a:ln/>
        </p:spPr>
      </p:sp>
      <p:sp>
        <p:nvSpPr>
          <p:cNvPr id="20" name="Text 18"/>
          <p:cNvSpPr/>
          <p:nvPr/>
        </p:nvSpPr>
        <p:spPr>
          <a:xfrm>
            <a:off x="8915400" y="20116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961120" y="274320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Validity</a:t>
            </a:r>
            <a:endParaRPr lang="en-US" sz="15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961120" y="342900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 error, residual diagnostics, paired statistical tests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4937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the naive benchmark tests whether complexity helps; the chronological split tests generalisation; residual diagnostics test leftover structure; the synthetic null tests whether “success” can arise from noise alone.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Compared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7F8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1554480" cy="320040"/>
          </a:xfrm>
          <a:prstGeom prst="roundRect">
            <a:avLst>
              <a:gd name="adj" fmla="val 48571"/>
            </a:avLst>
          </a:prstGeom>
          <a:solidFill>
            <a:srgbClr val="C89B3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Mean-Return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3063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forecast = training-period mean return. Minimises in-sample squared error among constant forecasts that benchmark to beat.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7F8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600200"/>
            <a:ext cx="1554480" cy="320040"/>
          </a:xfrm>
          <a:prstGeom prst="roundRect">
            <a:avLst>
              <a:gd name="adj" fmla="val 48571"/>
            </a:avLst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6002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20574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2880360"/>
            <a:ext cx="3063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on 7 scaled predictors (lags, moving averages, volatility, volume change). Interpretable, low-complexity reference model.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7F8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66760" y="1600200"/>
            <a:ext cx="1554480" cy="320040"/>
          </a:xfrm>
          <a:prstGeom prst="roundRect">
            <a:avLst>
              <a:gd name="adj" fmla="val 48571"/>
            </a:avLst>
          </a:prstGeom>
          <a:solidFill>
            <a:srgbClr val="C89B3C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16002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66760" y="20574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 Network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66760" y="2880360"/>
            <a:ext cx="3063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&amp; 32-unit recurrent layers, 20-day input sequences, 20% dropout, Adam optimiser, early stopping. Captures nonlinear temporal structure.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Strategy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statistic is treated as proof of predictive validity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234440"/>
          </a:xfrm>
          <a:prstGeom prst="roundRect">
            <a:avLst>
              <a:gd name="adj" fmla="val 4444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73736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metrics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210312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MSE, RMSE, MAE, R² and directional accuracy 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440680" cy="1234440"/>
          </a:xfrm>
          <a:prstGeom prst="roundRect">
            <a:avLst>
              <a:gd name="adj" fmla="val 4444"/>
            </a:avLst>
          </a:prstGeom>
          <a:solidFill>
            <a:srgbClr val="F7F8FC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828800"/>
            <a:ext cx="457200" cy="45720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0" y="173736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comparison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40880" y="210312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model must clear the simple mean-return benchmark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5440680" cy="1234440"/>
          </a:xfrm>
          <a:prstGeom prst="roundRect">
            <a:avLst>
              <a:gd name="adj" fmla="val 4444"/>
            </a:avLst>
          </a:prstGeom>
          <a:solidFill>
            <a:srgbClr val="F7F8FC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246120"/>
            <a:ext cx="457200" cy="45720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1546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Residual diagnostics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352044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Ljung-Box tests at lags 5/10/20 for leftover structure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017520"/>
            <a:ext cx="5440680" cy="1234440"/>
          </a:xfrm>
          <a:prstGeom prst="roundRect">
            <a:avLst>
              <a:gd name="adj" fmla="val 4444"/>
            </a:avLst>
          </a:prstGeom>
          <a:solidFill>
            <a:srgbClr val="F7F8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3246120"/>
            <a:ext cx="457200" cy="45720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0" y="315468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Paired statistical tests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40880" y="352044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 &amp; Wilcoxon signed-rank on LR vs LSTM errors, plus effect size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5440680" cy="1234440"/>
          </a:xfrm>
          <a:prstGeom prst="roundRect">
            <a:avLst>
              <a:gd name="adj" fmla="val 4444"/>
            </a:avLst>
          </a:prstGeom>
          <a:solidFill>
            <a:srgbClr val="F7F8FC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4663440"/>
            <a:ext cx="457200" cy="45720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17320" y="457200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random-data control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17320" y="493776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 on i.i.d. Gaussian returns with no built-in signal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72200" y="4434840"/>
            <a:ext cx="5440680" cy="1234440"/>
          </a:xfrm>
          <a:prstGeom prst="roundRect">
            <a:avLst>
              <a:gd name="adj" fmla="val 4444"/>
            </a:avLst>
          </a:prstGeom>
          <a:solidFill>
            <a:srgbClr val="F7F8FC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0" y="4663440"/>
            <a:ext cx="457200" cy="457200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40880" y="457200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Train/test comparison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40880" y="4937760"/>
            <a:ext cx="4343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overfitting, but interpreted cautiously given volatility differences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Out-of-Sample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has the lowest error but the margin is small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66751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417320"/>
            <a:ext cx="411480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72668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vs Linear Regression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26680" y="1874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≈3.8% lower MSE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72668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vs Naive Benchmark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26680" y="272491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≈2.2% lower MSE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7498080" y="3611880"/>
            <a:ext cx="4114800" cy="2011680"/>
          </a:xfrm>
          <a:prstGeom prst="roundRect">
            <a:avLst>
              <a:gd name="adj" fmla="val 3636"/>
            </a:avLst>
          </a:prstGeom>
          <a:solidFill>
            <a:srgbClr val="F7F8FC"/>
          </a:solidFill>
          <a:ln/>
        </p:spPr>
      </p:sp>
      <p:sp>
        <p:nvSpPr>
          <p:cNvPr id="11" name="Text 8"/>
          <p:cNvSpPr/>
          <p:nvPr/>
        </p:nvSpPr>
        <p:spPr>
          <a:xfrm>
            <a:off x="7726680" y="3794760"/>
            <a:ext cx="3657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fitted models show negative or near-zero out-of-sample R², none explains a meaningful share of return variance.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Directional Accuracy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naive benchmark wins on the metric that matters for trading direction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69494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2645229"/>
            <a:ext cx="6400800" cy="0"/>
          </a:xfrm>
          <a:prstGeom prst="line">
            <a:avLst/>
          </a:prstGeom>
          <a:noFill/>
          <a:ln w="19050">
            <a:solidFill>
              <a:srgbClr val="B44141"/>
            </a:solidFill>
            <a:prstDash val="dash"/>
          </a:ln>
        </p:spPr>
      </p:sp>
      <p:sp>
        <p:nvSpPr>
          <p:cNvPr id="6" name="Text 3"/>
          <p:cNvSpPr/>
          <p:nvPr/>
        </p:nvSpPr>
        <p:spPr>
          <a:xfrm>
            <a:off x="4480560" y="15361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B441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random-guessing benchmark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726680" y="1554480"/>
            <a:ext cx="3886200" cy="4023360"/>
          </a:xfrm>
          <a:prstGeom prst="roundRect">
            <a:avLst>
              <a:gd name="adj" fmla="val 1882"/>
            </a:avLst>
          </a:prstGeom>
          <a:solidFill>
            <a:srgbClr val="F7F8FC"/>
          </a:solidFill>
          <a:ln/>
        </p:spPr>
      </p:sp>
      <p:sp>
        <p:nvSpPr>
          <p:cNvPr id="8" name="Text 5"/>
          <p:cNvSpPr/>
          <p:nvPr/>
        </p:nvSpPr>
        <p:spPr>
          <a:xfrm>
            <a:off x="7955280" y="17373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955280" y="219456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56.3%</a:t>
            </a: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naive constant-positive forecast
</a:t>
            </a: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55.3%</a:t>
            </a: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LSTM
</a:t>
            </a: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49.9%</a:t>
            </a: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Linear Regression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955280" y="4297680"/>
            <a:ext cx="3474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LSTM does not beat the naive benchmark on sign prediction, a caution against judging models by a single favourable metric.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 &amp; Statistical Significance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7F8F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→ Test MSE Gap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10512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MSE is lower than training MSE for every model that is opposite of textbook overfitting.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Linear Regression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931920" y="2606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−0.000169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LSTM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931920" y="30632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−0.000179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LR / LSTM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931920" y="3520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−0.000016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023360"/>
            <a:ext cx="4846320" cy="0"/>
          </a:xfrm>
          <a:prstGeom prst="line">
            <a:avLst/>
          </a:prstGeom>
          <a:noFill/>
          <a:ln w="12700">
            <a:solidFill>
              <a:srgbClr val="D8DC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20624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the test period (2023–24) was less volatile than training (incl. 2020). Lower test MSE partly reflects calmer markets, not necessarily better generalisation.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23444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417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Paired Test: LR vs LSTM Errors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0" y="18105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479 aligned out-of-sample absolute errors compared: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92240" y="2331720"/>
            <a:ext cx="4846320" cy="777240"/>
          </a:xfrm>
          <a:prstGeom prst="roundRect">
            <a:avLst>
              <a:gd name="adj" fmla="val 7059"/>
            </a:avLst>
          </a:prstGeom>
          <a:solidFill>
            <a:srgbClr val="141A47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4231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t-test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75120" y="271576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1.934,  p = 0.054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92240" y="3246120"/>
            <a:ext cx="4846320" cy="777240"/>
          </a:xfrm>
          <a:prstGeom prst="roundRect">
            <a:avLst>
              <a:gd name="adj" fmla="val 7059"/>
            </a:avLst>
          </a:prstGeom>
          <a:solidFill>
            <a:srgbClr val="141A47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33375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 signed-rank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75120" y="363016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= 52,242,  p = 0.084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92240" y="4160520"/>
            <a:ext cx="4846320" cy="777240"/>
          </a:xfrm>
          <a:prstGeom prst="roundRect">
            <a:avLst>
              <a:gd name="adj" fmla="val 7059"/>
            </a:avLst>
          </a:prstGeom>
          <a:solidFill>
            <a:srgbClr val="141A47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519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effect size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675120" y="454456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 = 0.088  (very small)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92240" y="521208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5% level, neither test rejects equal forecast error. The LSTM's edge over Linear Regression is not statistically significant.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Discussion: Answering the Research Questions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508760"/>
          </a:xfrm>
          <a:prstGeom prst="roundRect">
            <a:avLst>
              <a:gd name="adj" fmla="val 4242"/>
            </a:avLst>
          </a:prstGeom>
          <a:solidFill>
            <a:srgbClr val="F7F8F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91640"/>
            <a:ext cx="100584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011680" y="1536192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predictability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011680" y="192024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feature, target correlations and near-zero/negative R² indicate little exploitable next-day signal in historical price/volume data  and consistent with weak-form efficiency.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11064240" cy="1508760"/>
          </a:xfrm>
          <a:prstGeom prst="roundRect">
            <a:avLst>
              <a:gd name="adj" fmla="val 4242"/>
            </a:avLst>
          </a:prstGeom>
          <a:solidFill>
            <a:srgbClr val="F7F8FC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3383280"/>
            <a:ext cx="100584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38328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011680" y="3227832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 is inconclusive, not disproven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011680" y="361188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negative train-test gap reflects a calmer test period, not necessarily good generalisation. LSTM sequence design issues (validation leakage, target-alignment) further weaken the generalisation claim.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11064240" cy="1508760"/>
          </a:xfrm>
          <a:prstGeom prst="roundRect">
            <a:avLst>
              <a:gd name="adj" fmla="val 4242"/>
            </a:avLst>
          </a:prstGeom>
          <a:solidFill>
            <a:srgbClr val="F7F8FC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5074920"/>
            <a:ext cx="100584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074920"/>
            <a:ext cx="1005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9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011680" y="4919472"/>
            <a:ext cx="9326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vs. random is suggestive, not conclusive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011680" y="530352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3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fail to find structure in synthetic random data (as expected), but the Gaussian null doesn't replicate fat tails or volatility clustering, so it's a partial, not definitive, control.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490472"/>
            <a:ext cx="128016" cy="12801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307592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compelling evidence of genuine next-day predictability in AAPL historical price/volume data.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85800" y="2386584"/>
            <a:ext cx="128016" cy="12801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03704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achieves the lowest error, but the improvement over simpler models is small and statistically insignificant and it does not beat the naive benchmark on direction.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85800" y="3282696"/>
            <a:ext cx="128016" cy="12801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099816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forecasting error alone is not evidence of predictive skill and it must survive comparison with simple benchmarks, unseen data, null experiments, and statistical tests.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85800" y="4178808"/>
            <a:ext cx="128016" cy="128016"/>
          </a:xfrm>
          <a:prstGeom prst="ellipse">
            <a:avLst/>
          </a:prstGeom>
          <a:solidFill>
            <a:srgbClr val="C89B3C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995928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are broadly consistent with a cautious, weak-form interpretation of market efficiency.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5166360"/>
            <a:ext cx="10881360" cy="0"/>
          </a:xfrm>
          <a:prstGeom prst="line">
            <a:avLst/>
          </a:prstGeom>
          <a:noFill/>
          <a:ln w="12700">
            <a:solidFill>
              <a:srgbClr val="3B43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34924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rolling-window validation, richer null models (block bootstrap / GARCH simulation), corrected LSTM sequence-target alignment, additional assets, and economic (net-of-cost) evaluation.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60604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Market Forecasting — Candidate 310168 — MSc Data Science, University of Sussex</a:t>
            </a:r>
            <a:endParaRPr lang="en-US" sz="11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22</TotalTime>
  <Words>1161</Words>
  <Application>Microsoft Office PowerPoint</Application>
  <PresentationFormat>Widescreen</PresentationFormat>
  <Paragraphs>166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Calisto MT</vt:lpstr>
      <vt:lpstr>Cambria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Kalode Shruti</cp:lastModifiedBy>
  <cp:revision>11</cp:revision>
  <dcterms:created xsi:type="dcterms:W3CDTF">2026-08-20T19:10:45Z</dcterms:created>
  <dcterms:modified xsi:type="dcterms:W3CDTF">2026-08-21T12:20:19Z</dcterms:modified>
</cp:coreProperties>
</file>